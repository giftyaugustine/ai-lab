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2F113D-D061-4935-9E8C-8FAF27D12BF1}">
  <a:tblStyle styleId="{C62F113D-D061-4935-9E8C-8FAF27D12B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 everyone. Today, I’ll be presenting our Applied AI Lab project titled “AI-powered recipe suggestion from ingredient images.”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goal of this project is to use artificial intelligence to look at an image of ingredients — say, what’s on your kitchen counter — and suggest suitable recipes that you can cook with those ingredients.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project brings AI into a very practical, everyday domain: cooking.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ca87788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ca87788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Most recipe apps today expect you to type in ingredients manually, which isn’t very intuitive.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rise of vision-language models — or VLMs — AI can now understand both images and text.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the idea is: you take a photo of your ingredients, and the AI recognizes them and suggests recipes.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goal is to make this process automatic and practical.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2b566a6b5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2b566a6b5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2b566a6b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2b566a6b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2b566a6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2b566a6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ca877881f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ca877881f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data collection, we followed a </a:t>
            </a:r>
            <a:r>
              <a:rPr b="1" lang="en">
                <a:solidFill>
                  <a:schemeClr val="dk1"/>
                </a:solidFill>
              </a:rPr>
              <a:t>hybrid approach</a:t>
            </a:r>
            <a:r>
              <a:rPr lang="en">
                <a:solidFill>
                  <a:schemeClr val="dk1"/>
                </a:solidFill>
              </a:rPr>
              <a:t> to balance scale, realism, and practicality.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First</a:t>
            </a:r>
            <a:r>
              <a:rPr lang="en">
                <a:solidFill>
                  <a:schemeClr val="dk1"/>
                </a:solidFill>
              </a:rPr>
              <a:t>, we used </a:t>
            </a:r>
            <a:r>
              <a:rPr b="1" lang="en">
                <a:solidFill>
                  <a:schemeClr val="dk1"/>
                </a:solidFill>
              </a:rPr>
              <a:t>open-source datasets</a:t>
            </a:r>
            <a:r>
              <a:rPr lang="en">
                <a:solidFill>
                  <a:schemeClr val="dk1"/>
                </a:solidFill>
              </a:rPr>
              <a:t> like ngredients Recognition Dataset (Kaggle) and </a:t>
            </a:r>
            <a:r>
              <a:rPr i="1" lang="en">
                <a:solidFill>
                  <a:schemeClr val="dk1"/>
                </a:solidFill>
              </a:rPr>
              <a:t>Recipe1M+</a:t>
            </a:r>
            <a:r>
              <a:rPr lang="en">
                <a:solidFill>
                  <a:schemeClr val="dk1"/>
                </a:solidFill>
              </a:rPr>
              <a:t> — these provide a solid foundation for understanding how ingredients appear in various contexts.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While these datasets mostly feature prepared dishes, they help the Vision-Language Model (VLM) recognize common ingredients and food items.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Second</a:t>
            </a:r>
            <a:r>
              <a:rPr lang="en">
                <a:solidFill>
                  <a:schemeClr val="dk1"/>
                </a:solidFill>
              </a:rPr>
              <a:t>, we collected our </a:t>
            </a:r>
            <a:r>
              <a:rPr b="1" lang="en">
                <a:solidFill>
                  <a:schemeClr val="dk1"/>
                </a:solidFill>
              </a:rPr>
              <a:t>own small test dataset</a:t>
            </a:r>
            <a:r>
              <a:rPr lang="en">
                <a:solidFill>
                  <a:schemeClr val="dk1"/>
                </a:solidFill>
              </a:rPr>
              <a:t> — around 10 to 20 photos — showing real ingredients in a fridge, on a kitchen table, or counter.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These images are much closer to real-world use cases and let us test how well the model generalizes beyond curated online datasets.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also helps evaluate whether the model can detect multiple ingredients in a single messy scene — something that’s common in everyday life.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Finally</a:t>
            </a:r>
            <a:r>
              <a:rPr lang="en">
                <a:solidFill>
                  <a:schemeClr val="dk1"/>
                </a:solidFill>
              </a:rPr>
              <a:t>, for recipe data, instead of scraping websites like Chefkoch or SeriousEats, which have licensing restrictions, we built a </a:t>
            </a:r>
            <a:r>
              <a:rPr b="1" lang="en">
                <a:solidFill>
                  <a:schemeClr val="dk1"/>
                </a:solidFill>
              </a:rPr>
              <a:t>local recipe database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It’s stored in </a:t>
            </a:r>
            <a:r>
              <a:rPr b="1" lang="en">
                <a:solidFill>
                  <a:schemeClr val="dk1"/>
                </a:solidFill>
              </a:rPr>
              <a:t>CSV or JSON format</a:t>
            </a:r>
            <a:r>
              <a:rPr lang="en">
                <a:solidFill>
                  <a:schemeClr val="dk1"/>
                </a:solidFill>
              </a:rPr>
              <a:t>, containing fields like recipe title, ingredient list, and cooking instructions.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local dataset allows us to experiment with recipe retrieval safely and reproducibly.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2b566a6b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2b566a6b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2b566a6b5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2b566a6b5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2b0a0dd6f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2b0a0dd6f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2bb644c7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2bb644c7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2bb644c7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2bb644c7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bb644c7d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bb644c7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2bb644c7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2bb644c7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2bb644c7d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2bb644c7d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2bb644c7d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2bb644c7d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ca877881f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ca877881f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assess how well our system performs, we’ll evaluate it on three main aspects: </a:t>
            </a:r>
            <a:r>
              <a:rPr b="1" lang="en">
                <a:solidFill>
                  <a:schemeClr val="dk1"/>
                </a:solidFill>
              </a:rPr>
              <a:t>ingredient detection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recipe matching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recipe diversity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First</a:t>
            </a:r>
            <a:r>
              <a:rPr lang="en">
                <a:solidFill>
                  <a:schemeClr val="dk1"/>
                </a:solidFill>
              </a:rPr>
              <a:t>, for </a:t>
            </a:r>
            <a:r>
              <a:rPr i="1" lang="en">
                <a:solidFill>
                  <a:schemeClr val="dk1"/>
                </a:solidFill>
              </a:rPr>
              <a:t>ingredient detection</a:t>
            </a:r>
            <a:r>
              <a:rPr lang="en">
                <a:solidFill>
                  <a:schemeClr val="dk1"/>
                </a:solidFill>
              </a:rPr>
              <a:t>, we’ll measure how accurately the Vision-Language Model identifies ingredients from the image.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standard metrics we’ll use here are </a:t>
            </a:r>
            <a:r>
              <a:rPr b="1" lang="en">
                <a:solidFill>
                  <a:schemeClr val="dk1"/>
                </a:solidFill>
              </a:rPr>
              <a:t>precision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recall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F1-score</a:t>
            </a:r>
            <a:r>
              <a:rPr lang="en">
                <a:solidFill>
                  <a:schemeClr val="dk1"/>
                </a:solidFill>
              </a:rPr>
              <a:t> —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>
                <a:solidFill>
                  <a:schemeClr val="dk1"/>
                </a:solidFill>
              </a:rPr>
              <a:t>Precision</a:t>
            </a:r>
            <a:r>
              <a:rPr lang="en">
                <a:solidFill>
                  <a:schemeClr val="dk1"/>
                </a:solidFill>
              </a:rPr>
              <a:t> tells us how many of the detected ingredients are actually correct,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>
                <a:solidFill>
                  <a:schemeClr val="dk1"/>
                </a:solidFill>
              </a:rPr>
              <a:t>Recall</a:t>
            </a:r>
            <a:r>
              <a:rPr lang="en">
                <a:solidFill>
                  <a:schemeClr val="dk1"/>
                </a:solidFill>
              </a:rPr>
              <a:t> measures how many of the real ingredients were successfully detected, and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>
                <a:solidFill>
                  <a:schemeClr val="dk1"/>
                </a:solidFill>
              </a:rPr>
              <a:t>F1-score</a:t>
            </a:r>
            <a:r>
              <a:rPr lang="en">
                <a:solidFill>
                  <a:schemeClr val="dk1"/>
                </a:solidFill>
              </a:rPr>
              <a:t> balances both.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gives a solid quantitative measure of how good the model is at visual recognition.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Second</a:t>
            </a:r>
            <a:r>
              <a:rPr lang="en">
                <a:solidFill>
                  <a:schemeClr val="dk1"/>
                </a:solidFill>
              </a:rPr>
              <a:t>, for </a:t>
            </a:r>
            <a:r>
              <a:rPr i="1" lang="en">
                <a:solidFill>
                  <a:schemeClr val="dk1"/>
                </a:solidFill>
              </a:rPr>
              <a:t>recipe matching</a:t>
            </a:r>
            <a:r>
              <a:rPr lang="en">
                <a:solidFill>
                  <a:schemeClr val="dk1"/>
                </a:solidFill>
              </a:rPr>
              <a:t>, we’ll check how well the detected ingredients overlap with the ingredients listed in the suggested recipe.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In other words, if the model detects tomato, garlic, and basil, and the recipe also includes those ingredients, the match quality is high.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We can compute this overlap as a simple ratio or similarity score.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Finally</a:t>
            </a:r>
            <a:r>
              <a:rPr lang="en">
                <a:solidFill>
                  <a:schemeClr val="dk1"/>
                </a:solidFill>
              </a:rPr>
              <a:t>, for </a:t>
            </a:r>
            <a:r>
              <a:rPr i="1" lang="en">
                <a:solidFill>
                  <a:schemeClr val="dk1"/>
                </a:solidFill>
              </a:rPr>
              <a:t>recipe diversity</a:t>
            </a:r>
            <a:r>
              <a:rPr lang="en">
                <a:solidFill>
                  <a:schemeClr val="dk1"/>
                </a:solidFill>
              </a:rPr>
              <a:t>, we’ll look at how varied the recipe suggestions are —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for instance, whether the system always suggests similar dishes or covers a wide range of cuisines and meal types.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We can track this by counting the number of </a:t>
            </a:r>
            <a:r>
              <a:rPr b="1" lang="en">
                <a:solidFill>
                  <a:schemeClr val="dk1"/>
                </a:solidFill>
              </a:rPr>
              <a:t>unique recipe types</a:t>
            </a:r>
            <a:r>
              <a:rPr lang="en">
                <a:solidFill>
                  <a:schemeClr val="dk1"/>
                </a:solidFill>
              </a:rPr>
              <a:t> suggested across different inputs.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Together, these three evaluation dimensions help us understand both the </a:t>
            </a:r>
            <a:r>
              <a:rPr b="1" lang="en">
                <a:solidFill>
                  <a:schemeClr val="dk1"/>
                </a:solidFill>
              </a:rPr>
              <a:t>technical accuracy</a:t>
            </a:r>
            <a:r>
              <a:rPr lang="en">
                <a:solidFill>
                  <a:schemeClr val="dk1"/>
                </a:solidFill>
              </a:rPr>
              <a:t> and the </a:t>
            </a:r>
            <a:r>
              <a:rPr b="1" lang="en">
                <a:solidFill>
                  <a:schemeClr val="dk1"/>
                </a:solidFill>
              </a:rPr>
              <a:t>practical usefulness</a:t>
            </a:r>
            <a:r>
              <a:rPr lang="en">
                <a:solidFill>
                  <a:schemeClr val="dk1"/>
                </a:solidFill>
              </a:rPr>
              <a:t> of our AI cooking assistant.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9a310d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29a310d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2b15f83e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2b15f83e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29a310d76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29a310d76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2bb644c7d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2bb644c7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ca877881f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ca877881f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d4386dea8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d4386dea8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page-0001.jp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362210" y="341644"/>
            <a:ext cx="1414163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huggingface.co/Qwen/Qwen2-VL-2B-Instruct" TargetMode="External"/><Relationship Id="rId4" Type="http://schemas.openxmlformats.org/officeDocument/2006/relationships/hyperlink" Target="https://openrouter.ai" TargetMode="External"/><Relationship Id="rId5" Type="http://schemas.openxmlformats.org/officeDocument/2006/relationships/hyperlink" Target="https://openrouter.ai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0" y="0"/>
            <a:ext cx="9143942" cy="71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403244"/>
            <a:ext cx="8520600" cy="205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45F06"/>
                </a:solidFill>
              </a:rPr>
              <a:t>SmartKitchen.AI</a:t>
            </a:r>
            <a:endParaRPr b="1">
              <a:solidFill>
                <a:srgbClr val="B45F06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6829269" y="3803909"/>
            <a:ext cx="1944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</a:rPr>
              <a:t>Kezia Kunju John</a:t>
            </a:r>
            <a:endParaRPr b="1" sz="12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</a:rPr>
              <a:t>Gifty Augustine</a:t>
            </a:r>
            <a:endParaRPr b="1" sz="12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</a:rPr>
              <a:t>Divya Sabu</a:t>
            </a:r>
            <a:endParaRPr b="1" sz="1200">
              <a:solidFill>
                <a:srgbClr val="1F1F1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965600" y="2475088"/>
            <a:ext cx="5379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AI-powered recipe suggestion from ingredient images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98975" y="445025"/>
            <a:ext cx="369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Introduction &amp; Vision</a:t>
            </a:r>
            <a:endParaRPr>
              <a:solidFill>
                <a:srgbClr val="FB8919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905549" y="1552625"/>
            <a:ext cx="742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Problem Statement: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"What's for dinner?" dilemma. Users have ingredients but lacks inspiration or knows the exact recipe names.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629253" y="445025"/>
            <a:ext cx="640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>
                <a:solidFill>
                  <a:srgbClr val="FB8919"/>
                </a:solidFill>
              </a:rPr>
              <a:t>Solution</a:t>
            </a:r>
            <a:endParaRPr sz="2520">
              <a:solidFill>
                <a:srgbClr val="FB8919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822772"/>
            <a:ext cx="8520600" cy="1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“</a:t>
            </a:r>
            <a:r>
              <a:rPr lang="en" sz="5200">
                <a:solidFill>
                  <a:srgbClr val="B45F06"/>
                </a:solidFill>
              </a:rPr>
              <a:t>SmartKitchen.AI</a:t>
            </a:r>
            <a:r>
              <a:rPr lang="en" sz="5200">
                <a:solidFill>
                  <a:schemeClr val="dk1"/>
                </a:solidFill>
              </a:rPr>
              <a:t>”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764663" y="2571765"/>
            <a:ext cx="5704500" cy="1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Visual first tool bridging gap between raw ingredients and executable recipes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78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FB8919"/>
                </a:solidFill>
              </a:rPr>
              <a:t>Technology Stack -01</a:t>
            </a:r>
            <a:endParaRPr b="1" sz="2500">
              <a:solidFill>
                <a:srgbClr val="CCCCCC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FB891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CCCCCC"/>
              </a:solidFill>
              <a:highlight>
                <a:srgbClr val="1F1F1F"/>
              </a:highlight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200">
                <a:solidFill>
                  <a:schemeClr val="dk1"/>
                </a:solidFill>
              </a:rPr>
              <a:t>Backend Architecture</a:t>
            </a:r>
            <a:r>
              <a:rPr lang="en" sz="7200">
                <a:solidFill>
                  <a:schemeClr val="dk1"/>
                </a:solidFill>
              </a:rPr>
              <a:t>:</a:t>
            </a:r>
            <a:endParaRPr sz="72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7200">
                <a:solidFill>
                  <a:schemeClr val="dk1"/>
                </a:solidFill>
              </a:rPr>
              <a:t>FastAPI: High-performance Python web framework.</a:t>
            </a:r>
            <a:endParaRPr sz="72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7200">
                <a:solidFill>
                  <a:schemeClr val="dk1"/>
                </a:solidFill>
              </a:rPr>
              <a:t>Uvicorn: ASGI server for asynchronous execution.</a:t>
            </a: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200">
                <a:solidFill>
                  <a:schemeClr val="dk1"/>
                </a:solidFill>
              </a:rPr>
              <a:t>Frontend Design</a:t>
            </a:r>
            <a:r>
              <a:rPr lang="en" sz="7200">
                <a:solidFill>
                  <a:schemeClr val="dk1"/>
                </a:solidFill>
              </a:rPr>
              <a:t>:</a:t>
            </a:r>
            <a:endParaRPr sz="72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7200">
                <a:solidFill>
                  <a:schemeClr val="dk1"/>
                </a:solidFill>
              </a:rPr>
              <a:t>Single Page Application (SPA): Using modern vanilla JavaScript and CSS.</a:t>
            </a:r>
            <a:endParaRPr sz="72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7200">
                <a:solidFill>
                  <a:schemeClr val="dk1"/>
                </a:solidFill>
              </a:rPr>
              <a:t>Design Language: Glassmorphism, animations (Inter font, FontAwesome icons), and responsive layouts.</a:t>
            </a:r>
            <a:endParaRPr sz="7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7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3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3"/>
              <a:buChar char="●"/>
            </a:pPr>
            <a:r>
              <a:rPr b="1" lang="en" sz="1802">
                <a:solidFill>
                  <a:schemeClr val="dk1"/>
                </a:solidFill>
              </a:rPr>
              <a:t>AI Core</a:t>
            </a:r>
            <a:r>
              <a:rPr lang="en" sz="1802">
                <a:solidFill>
                  <a:schemeClr val="dk1"/>
                </a:solidFill>
              </a:rPr>
              <a:t>:</a:t>
            </a:r>
            <a:endParaRPr sz="1802">
              <a:solidFill>
                <a:schemeClr val="dk1"/>
              </a:solidFill>
            </a:endParaRPr>
          </a:p>
          <a:p>
            <a:pPr indent="-343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3"/>
              <a:buChar char="○"/>
            </a:pPr>
            <a:r>
              <a:rPr b="1" lang="en" sz="1802">
                <a:solidFill>
                  <a:schemeClr val="dk1"/>
                </a:solidFill>
              </a:rPr>
              <a:t>QwenVL-2: </a:t>
            </a:r>
            <a:r>
              <a:rPr lang="en" sz="1802">
                <a:solidFill>
                  <a:schemeClr val="dk1"/>
                </a:solidFill>
              </a:rPr>
              <a:t>A powerful Vision-Language Model tuned for ingredient recognition.</a:t>
            </a:r>
            <a:endParaRPr sz="1802">
              <a:solidFill>
                <a:schemeClr val="dk1"/>
              </a:solidFill>
            </a:endParaRPr>
          </a:p>
          <a:p>
            <a:pPr indent="-343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3"/>
              <a:buChar char="○"/>
            </a:pPr>
            <a:r>
              <a:rPr b="1" lang="en" sz="1802">
                <a:solidFill>
                  <a:schemeClr val="dk1"/>
                </a:solidFill>
              </a:rPr>
              <a:t>Transformers &amp; Torch:</a:t>
            </a:r>
            <a:r>
              <a:rPr lang="en" sz="1802">
                <a:solidFill>
                  <a:schemeClr val="dk1"/>
                </a:solidFill>
              </a:rPr>
              <a:t> Underlying libraries for model inference.</a:t>
            </a:r>
            <a:endParaRPr sz="300"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78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>
                <a:solidFill>
                  <a:srgbClr val="FB8919"/>
                </a:solidFill>
              </a:rPr>
              <a:t>Technology Stack -02</a:t>
            </a:r>
            <a:endParaRPr b="1" sz="1700">
              <a:solidFill>
                <a:srgbClr val="CCCCCC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rgbClr val="FB891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524650" y="1078250"/>
            <a:ext cx="8520600" cy="3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Recipe</a:t>
            </a:r>
            <a:r>
              <a:rPr b="1" lang="en">
                <a:solidFill>
                  <a:schemeClr val="dk1"/>
                </a:solidFill>
              </a:rPr>
              <a:t> Dataset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Utilizing the Recipe1M+ dataset (1 million recipes, 13 million images).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Visual Data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Captured own images</a:t>
            </a:r>
            <a:r>
              <a:rPr lang="en">
                <a:solidFill>
                  <a:schemeClr val="dk1"/>
                </a:solidFill>
              </a:rPr>
              <a:t> of fridge or kitchen ingredients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35 test photos with mixed raw ingredients to </a:t>
            </a:r>
            <a:r>
              <a:rPr b="1" lang="en">
                <a:solidFill>
                  <a:schemeClr val="dk1"/>
                </a:solidFill>
              </a:rPr>
              <a:t>test model robustness</a:t>
            </a:r>
            <a:r>
              <a:rPr lang="en">
                <a:solidFill>
                  <a:schemeClr val="dk1"/>
                </a:solidFill>
              </a:rPr>
              <a:t> on realistic, unstructured scenes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Random images from the internet.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79750" y="389000"/>
            <a:ext cx="866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>
                <a:solidFill>
                  <a:srgbClr val="FB8919"/>
                </a:solidFill>
              </a:rPr>
              <a:t>Data Engineering &amp; Preprocessing -01</a:t>
            </a:r>
            <a:endParaRPr b="1" sz="1700">
              <a:solidFill>
                <a:srgbClr val="CCCCCC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rgbClr val="FB891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88100" y="1146100"/>
            <a:ext cx="84276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Processing Pipeline (clean_dataset.py):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Filtering "non-dish" items (e.g., powders, extracts).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Ingredient normalization (unit stripping, descriptor removal).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Heuristic-based cleaning to ensure high-quality matching.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Inventory Analytics (generate_glossary.py):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Frequency analysis of ingredients across 100k+ recipes.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Automatic singularization and merging of plural forms.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74975"/>
            <a:ext cx="878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>
                <a:solidFill>
                  <a:srgbClr val="FB8919"/>
                </a:solidFill>
              </a:rPr>
              <a:t>Data Engineering &amp; Preprocessing -02</a:t>
            </a:r>
            <a:endParaRPr b="1" sz="1700">
              <a:solidFill>
                <a:srgbClr val="CCCCCC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50974" y="36408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Architecture - 01</a:t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500" y="466986"/>
            <a:ext cx="3459925" cy="450924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/>
          <p:nvPr/>
        </p:nvSpPr>
        <p:spPr>
          <a:xfrm>
            <a:off x="4187275" y="3008457"/>
            <a:ext cx="48600" cy="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4018350" y="1482341"/>
            <a:ext cx="214200" cy="10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Architecture - 02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1529626" y="1162225"/>
            <a:ext cx="85206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425">
                <a:solidFill>
                  <a:schemeClr val="dk1"/>
                </a:solidFill>
              </a:rPr>
              <a:t>VLM Analysis Flow:</a:t>
            </a:r>
            <a:endParaRPr b="1" sz="3425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06">
                <a:solidFill>
                  <a:schemeClr val="dk1"/>
                </a:solidFill>
              </a:rPr>
              <a:t>Image upload </a:t>
            </a:r>
            <a:endParaRPr sz="3106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6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06">
                <a:solidFill>
                  <a:schemeClr val="dk1"/>
                </a:solidFill>
              </a:rPr>
              <a:t>Encoding </a:t>
            </a:r>
            <a:endParaRPr sz="3106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6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06">
                <a:solidFill>
                  <a:schemeClr val="dk1"/>
                </a:solidFill>
              </a:rPr>
              <a:t>QwenVL Inference</a:t>
            </a:r>
            <a:endParaRPr sz="3106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06">
                <a:solidFill>
                  <a:schemeClr val="dk1"/>
                </a:solidFill>
              </a:rPr>
              <a:t>  </a:t>
            </a:r>
            <a:endParaRPr sz="3106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06">
                <a:solidFill>
                  <a:schemeClr val="dk1"/>
                </a:solidFill>
              </a:rPr>
              <a:t>Tag extraction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/>
          <p:nvPr/>
        </p:nvSpPr>
        <p:spPr>
          <a:xfrm flipH="1">
            <a:off x="3059473" y="2270603"/>
            <a:ext cx="214500" cy="393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3059473" y="3024715"/>
            <a:ext cx="214500" cy="393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3059473" y="3847567"/>
            <a:ext cx="214500" cy="393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B8919"/>
                </a:solidFill>
              </a:rPr>
              <a:t>The Matching Algorithm </a:t>
            </a:r>
            <a:endParaRPr>
              <a:solidFill>
                <a:srgbClr val="FB8919"/>
              </a:solidFill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Exact Matches</a:t>
            </a:r>
            <a:r>
              <a:rPr lang="en">
                <a:solidFill>
                  <a:schemeClr val="dk1"/>
                </a:solidFill>
              </a:rPr>
              <a:t>: Recipes where the user has 100% of required non-staple ingredients.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Partial Matches</a:t>
            </a:r>
            <a:r>
              <a:rPr lang="en">
                <a:solidFill>
                  <a:schemeClr val="dk1"/>
                </a:solidFill>
              </a:rPr>
              <a:t>: Ranking recipes based on "Coverage Score" (&gt;20%) and "Missing Count".</a:t>
            </a:r>
            <a:endParaRPr sz="2500"/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Workflow - 01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Visual Capture</a:t>
            </a:r>
            <a:r>
              <a:rPr lang="en">
                <a:solidFill>
                  <a:schemeClr val="dk1"/>
                </a:solidFill>
              </a:rPr>
              <a:t>: The user captures or uploads a photo of their kitchen counter or fridge.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Vision-Language Inference</a:t>
            </a:r>
            <a:r>
              <a:rPr lang="en">
                <a:solidFill>
                  <a:schemeClr val="dk1"/>
                </a:solidFill>
              </a:rPr>
              <a:t>: The QwenVL-2 model parses the scene, identifying specific ingredients (e.g., "bell pepper," "chicken breast").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Semantic Normalization</a:t>
            </a:r>
            <a:r>
              <a:rPr lang="en">
                <a:solidFill>
                  <a:schemeClr val="dk1"/>
                </a:solidFill>
              </a:rPr>
              <a:t>: Our cleaner script strips units and pluralizes/singularizes terms to ensure they match our database vocabulary (e.g., "carrots" -&gt; "carrot").</a:t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Workflow - 02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4. </a:t>
            </a:r>
            <a:r>
              <a:rPr b="1" lang="en">
                <a:solidFill>
                  <a:schemeClr val="dk1"/>
                </a:solidFill>
              </a:rPr>
              <a:t>Heuristic Filter Matching</a:t>
            </a:r>
            <a:r>
              <a:rPr lang="en">
                <a:solidFill>
                  <a:schemeClr val="dk1"/>
                </a:solidFill>
              </a:rPr>
              <a:t>: We filter millions of recipes using a multi-tier logic.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5. Interactive Results</a:t>
            </a:r>
            <a:r>
              <a:rPr lang="en">
                <a:solidFill>
                  <a:schemeClr val="dk1"/>
                </a:solidFill>
              </a:rPr>
              <a:t>: The frontend renders recipes with "Match Scores" and highlights "Missing Ingredients" to help the user decide.</a:t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Project Milestones &amp; Work Accomplished - 01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Dataset Acquisition &amp; Research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Identified and integrated the </a:t>
            </a:r>
            <a:r>
              <a:rPr b="1" lang="en">
                <a:solidFill>
                  <a:schemeClr val="dk1"/>
                </a:solidFill>
              </a:rPr>
              <a:t>Recipe1M+</a:t>
            </a:r>
            <a:r>
              <a:rPr lang="en">
                <a:solidFill>
                  <a:schemeClr val="dk1"/>
                </a:solidFill>
              </a:rPr>
              <a:t> dataset as our primary source.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>
                <a:solidFill>
                  <a:schemeClr val="dk1"/>
                </a:solidFill>
              </a:rPr>
              <a:t>2.</a:t>
            </a:r>
            <a:r>
              <a:rPr lang="en">
                <a:solidFill>
                  <a:schemeClr val="dk1"/>
                </a:solidFill>
              </a:rPr>
              <a:t> 	</a:t>
            </a:r>
            <a:r>
              <a:rPr b="1" lang="en">
                <a:solidFill>
                  <a:schemeClr val="dk1"/>
                </a:solidFill>
              </a:rPr>
              <a:t>Intelligent Pre-processing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Cleaning</a:t>
            </a:r>
            <a:r>
              <a:rPr lang="en">
                <a:solidFill>
                  <a:schemeClr val="dk1"/>
                </a:solidFill>
              </a:rPr>
              <a:t>: Developed clean_dataset.py to strip noisy descriptors (e.g., 'chopped', 'fresh') and non-food items.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Glossary Engineering</a:t>
            </a:r>
            <a:r>
              <a:rPr lang="en">
                <a:solidFill>
                  <a:schemeClr val="dk1"/>
                </a:solidFill>
              </a:rPr>
              <a:t>: Built an automated ingredient registry with plural-merging logic to ensure semantic consistency.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>
              <a:solidFill>
                <a:srgbClr val="CCCCCC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5"/>
          <p:cNvSpPr txBox="1"/>
          <p:nvPr/>
        </p:nvSpPr>
        <p:spPr>
          <a:xfrm>
            <a:off x="3099400" y="3902150"/>
            <a:ext cx="60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207750"/>
            <a:ext cx="85206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</a:t>
            </a:r>
            <a:r>
              <a:rPr b="1" lang="en">
                <a:solidFill>
                  <a:schemeClr val="dk1"/>
                </a:solidFill>
              </a:rPr>
              <a:t>. VLM Evaluation &amp; Selection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Benchmarking</a:t>
            </a:r>
            <a:r>
              <a:rPr lang="en">
                <a:solidFill>
                  <a:schemeClr val="dk1"/>
                </a:solidFill>
              </a:rPr>
              <a:t>: Evaluated multiple Vision-Language Models for ingredient recognition accuracy.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Optimization</a:t>
            </a:r>
            <a:r>
              <a:rPr lang="en">
                <a:solidFill>
                  <a:schemeClr val="dk1"/>
                </a:solidFill>
              </a:rPr>
              <a:t>: Selected </a:t>
            </a:r>
            <a:r>
              <a:rPr b="1" lang="en">
                <a:solidFill>
                  <a:schemeClr val="dk1"/>
                </a:solidFill>
              </a:rPr>
              <a:t>QwenVL-2</a:t>
            </a:r>
            <a:r>
              <a:rPr lang="en">
                <a:solidFill>
                  <a:schemeClr val="dk1"/>
                </a:solidFill>
              </a:rPr>
              <a:t> for its superior performance in identifying raw food items across diverse kitchen settings.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6"/>
          <p:cNvSpPr txBox="1"/>
          <p:nvPr/>
        </p:nvSpPr>
        <p:spPr>
          <a:xfrm>
            <a:off x="239225" y="442525"/>
            <a:ext cx="8362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8919"/>
                </a:solidFill>
              </a:rPr>
              <a:t>Project Milestones &amp; Work Accomplished - 02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FB8919"/>
                </a:solidFill>
              </a:rPr>
              <a:t>Project Milestones &amp; Work Accomplished - 03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SmartKitchen.AI Implementation</a:t>
            </a:r>
            <a:endParaRPr b="1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>
                <a:solidFill>
                  <a:schemeClr val="dk1"/>
                </a:solidFill>
              </a:rPr>
              <a:t>Backend:</a:t>
            </a:r>
            <a:r>
              <a:rPr lang="en">
                <a:solidFill>
                  <a:schemeClr val="dk1"/>
                </a:solidFill>
              </a:rPr>
              <a:t> Created a fast backend using FastAPI for handling VLM inference.</a:t>
            </a:r>
            <a:endParaRPr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>
                <a:solidFill>
                  <a:schemeClr val="dk1"/>
                </a:solidFill>
              </a:rPr>
              <a:t>Frontend:</a:t>
            </a:r>
            <a:r>
              <a:rPr lang="en">
                <a:solidFill>
                  <a:schemeClr val="dk1"/>
                </a:solidFill>
              </a:rPr>
              <a:t> Built a simple, modern UI with a glassmorphism design for easy interaction.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Logic: Implemented the weighted "Exact vs. Partial" matching algorithm.</a:t>
            </a:r>
            <a:endParaRPr/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Evaluation Strategy</a:t>
            </a:r>
            <a:endParaRPr>
              <a:solidFill>
                <a:srgbClr val="FB8919"/>
              </a:solidFill>
            </a:endParaRPr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3524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Since this is a practical AI project, evaluation is partly qualitative: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graphicFrame>
        <p:nvGraphicFramePr>
          <p:cNvPr id="170" name="Google Shape;170;p28"/>
          <p:cNvGraphicFramePr/>
          <p:nvPr/>
        </p:nvGraphicFramePr>
        <p:xfrm>
          <a:off x="952500" y="1962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{C62F113D-D061-4935-9E8C-8FAF27D12BF1}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Evaluation Aspect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Metric / Method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Ingredient detection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Precision, recall, F1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Retrieval Testing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Overlap between detected and recipe ingredients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7" name="Google Shape;177;p29"/>
          <p:cNvGraphicFramePr/>
          <p:nvPr/>
        </p:nvGraphicFramePr>
        <p:xfrm>
          <a:off x="538875" y="88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{C62F113D-D061-4935-9E8C-8FAF27D12BF1}</a:tableStyleId>
              </a:tblPr>
              <a:tblGrid>
                <a:gridCol w="4021175"/>
                <a:gridCol w="1294725"/>
                <a:gridCol w="1205250"/>
                <a:gridCol w="1183075"/>
              </a:tblGrid>
              <a:tr h="73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Precision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Recall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F1 Score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qwen/qwen3-vl-8b-instruct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0.630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0.672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0.647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qwen/qwen3-vl-30b-a3b-instruct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0.662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0.726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0.687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qwen/qwen2.5-vl-32b-instruct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0.606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0.702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0.645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qwen/qwen2.5-vl-72b-instruct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0.636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0.691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0.654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qwen/qwen3-vl-30b-a3b-thinking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0.695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0.749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0.716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qwen/qwen-2-vl-2b-instruct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0.568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0.534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0.540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qwen/qwen3-vl-8b-thinking	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0.659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0.721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0.686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" name="Google Shape;178;p29"/>
          <p:cNvSpPr txBox="1"/>
          <p:nvPr>
            <p:ph type="title"/>
          </p:nvPr>
        </p:nvSpPr>
        <p:spPr>
          <a:xfrm>
            <a:off x="538875" y="30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Results : Qwen Model Comparison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0" title="Screenshot 2026-02-01 at 6.50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100" y="690925"/>
            <a:ext cx="4853476" cy="271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/>
          <p:nvPr/>
        </p:nvSpPr>
        <p:spPr>
          <a:xfrm>
            <a:off x="439650" y="3460525"/>
            <a:ext cx="8160900" cy="1352400"/>
          </a:xfrm>
          <a:prstGeom prst="roundRect">
            <a:avLst>
              <a:gd fmla="val 16667" name="adj"/>
            </a:avLst>
          </a:prstGeom>
          <a:solidFill>
            <a:srgbClr val="EEF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"/>
          <p:cNvSpPr txBox="1"/>
          <p:nvPr/>
        </p:nvSpPr>
        <p:spPr>
          <a:xfrm>
            <a:off x="2703300" y="3529002"/>
            <a:ext cx="508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built the website using Qwen 2 (VL) for ingredient understanding + generation.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1095700" y="4142575"/>
            <a:ext cx="7338900" cy="549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Even though a Qwen3-VL model had the best F1 score during the test , we choose a Qwen2VL for the final system based on deployment practicality (latency, stability and availability).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0"/>
          <p:cNvSpPr txBox="1"/>
          <p:nvPr>
            <p:ph type="title"/>
          </p:nvPr>
        </p:nvSpPr>
        <p:spPr>
          <a:xfrm>
            <a:off x="277575" y="141925"/>
            <a:ext cx="81072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rgbClr val="FB8919"/>
                </a:solidFill>
              </a:rPr>
              <a:t>Final model choice for deployment</a:t>
            </a:r>
            <a:endParaRPr b="1"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710" y="3653990"/>
            <a:ext cx="1346414" cy="393600"/>
          </a:xfrm>
          <a:prstGeom prst="rect">
            <a:avLst/>
          </a:prstGeom>
          <a:solidFill>
            <a:srgbClr val="EEF4FF"/>
          </a:solidFill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Challenges</a:t>
            </a:r>
            <a:endParaRPr>
              <a:solidFill>
                <a:srgbClr val="FB8919"/>
              </a:solidFill>
            </a:endParaRPr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152475"/>
            <a:ext cx="8520600" cy="3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8987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8"/>
              <a:buAutoNum type="arabicPeriod"/>
            </a:pPr>
            <a:r>
              <a:rPr lang="en" sz="1738">
                <a:solidFill>
                  <a:schemeClr val="dk1"/>
                </a:solidFill>
              </a:rPr>
              <a:t>Scaling Challenges: Transitioning from JSON-based matching to SQLite FTS5 for million-record lookups.</a:t>
            </a:r>
            <a:endParaRPr sz="1738">
              <a:solidFill>
                <a:schemeClr val="dk1"/>
              </a:solidFill>
            </a:endParaRPr>
          </a:p>
          <a:p>
            <a:pPr indent="-338987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8"/>
              <a:buAutoNum type="arabicPeriod"/>
            </a:pPr>
            <a:r>
              <a:rPr lang="en" sz="1738">
                <a:solidFill>
                  <a:schemeClr val="dk1"/>
                </a:solidFill>
              </a:rPr>
              <a:t>DevOps/Deployment: Handling port conflicts (8000 vs 8001 vs 8002) and path robustness on Windows systems.</a:t>
            </a:r>
            <a:endParaRPr sz="1738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738">
                <a:solidFill>
                  <a:schemeClr val="dk1"/>
                </a:solidFill>
              </a:rPr>
              <a:t>3.     </a:t>
            </a:r>
            <a:r>
              <a:rPr lang="en" sz="1738">
                <a:solidFill>
                  <a:schemeClr val="dk1"/>
                </a:solidFill>
              </a:rPr>
              <a:t>Poor-quality or cluttered images from user</a:t>
            </a:r>
            <a:endParaRPr sz="1738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738">
                <a:solidFill>
                  <a:schemeClr val="dk1"/>
                </a:solidFill>
              </a:rPr>
              <a:t>4.     Images may include personal or identifiable items</a:t>
            </a:r>
            <a:endParaRPr sz="1738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738">
                <a:solidFill>
                  <a:schemeClr val="dk1"/>
                </a:solidFill>
              </a:rPr>
              <a:t>5.     Ingredient names vary by language or region</a:t>
            </a:r>
            <a:endParaRPr sz="173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975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225">
              <a:solidFill>
                <a:schemeClr val="dk1"/>
              </a:solidFill>
            </a:endParaRPr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B8919"/>
                </a:solidFill>
              </a:rPr>
              <a:t>Demo!!</a:t>
            </a:r>
            <a:endParaRPr>
              <a:solidFill>
                <a:srgbClr val="FB8919"/>
              </a:solidFill>
            </a:endParaRPr>
          </a:p>
        </p:txBody>
      </p:sp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References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Qwen2-VL Model: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https://huggingface.co/Qwen/Qwen2-VL-2B-Instruct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OpenRouter API: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https://openrouter.ai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Datasets:Recipe1M+, Kaggle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9" name="Google Shape;20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3049675" y="1786925"/>
            <a:ext cx="28992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</a:rPr>
              <a:t>THANK YOU!</a:t>
            </a:r>
            <a:endParaRPr b="1" sz="3000">
              <a:solidFill>
                <a:srgbClr val="FF9900"/>
              </a:solidFill>
            </a:endParaRPr>
          </a:p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